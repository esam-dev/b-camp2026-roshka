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26681cd1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26681cd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262f782e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262f782e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262f782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262f782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262f782e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262f782e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b9a0b07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b9a0b07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288953" y="204987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5400">
                <a:solidFill>
                  <a:schemeClr val="dk2"/>
                </a:solidFill>
              </a:rPr>
              <a:t>Principios SOLID</a:t>
            </a:r>
            <a:endParaRPr i="1" sz="5400">
              <a:solidFill>
                <a:schemeClr val="dk2"/>
              </a:solidFill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762617" y="3494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Guía elaborada por Elías Ortiz</a:t>
            </a:r>
            <a:endParaRPr sz="2200"/>
          </a:p>
        </p:txBody>
      </p:sp>
      <p:sp>
        <p:nvSpPr>
          <p:cNvPr id="74" name="Google Shape;74;p13"/>
          <p:cNvSpPr txBox="1"/>
          <p:nvPr>
            <p:ph type="ctrTitle"/>
          </p:nvPr>
        </p:nvSpPr>
        <p:spPr>
          <a:xfrm>
            <a:off x="372325" y="1188800"/>
            <a:ext cx="62490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/>
              <a:t>Tema:</a:t>
            </a:r>
            <a:endParaRPr sz="4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712150"/>
            <a:ext cx="7028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¿Qué son los principios SOLID?</a:t>
            </a:r>
            <a:endParaRPr sz="2400"/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s" sz="1100">
                <a:latin typeface="Arial"/>
                <a:ea typeface="Arial"/>
                <a:cs typeface="Arial"/>
                <a:sym typeface="Arial"/>
              </a:rPr>
              <a:t>Son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5 principios de diseño de software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que ayudan a: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s" sz="1100">
                <a:latin typeface="Arial"/>
                <a:ea typeface="Arial"/>
                <a:cs typeface="Arial"/>
                <a:sym typeface="Arial"/>
              </a:rPr>
              <a:t>escribir código más limpio</a:t>
            </a:r>
            <a:br>
              <a:rPr b="0" lang="es" sz="1100">
                <a:latin typeface="Arial"/>
                <a:ea typeface="Arial"/>
                <a:cs typeface="Arial"/>
                <a:sym typeface="Arial"/>
              </a:rPr>
            </a:b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s" sz="1100">
                <a:latin typeface="Arial"/>
                <a:ea typeface="Arial"/>
                <a:cs typeface="Arial"/>
                <a:sym typeface="Arial"/>
              </a:rPr>
              <a:t>fácil de entender</a:t>
            </a:r>
            <a:br>
              <a:rPr b="0" lang="es" sz="1100">
                <a:latin typeface="Arial"/>
                <a:ea typeface="Arial"/>
                <a:cs typeface="Arial"/>
                <a:sym typeface="Arial"/>
              </a:rPr>
            </a:b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0" lang="es" sz="1100">
                <a:latin typeface="Arial"/>
                <a:ea typeface="Arial"/>
                <a:cs typeface="Arial"/>
                <a:sym typeface="Arial"/>
              </a:rPr>
              <a:t>fácil de mantener y modificar</a:t>
            </a:r>
            <a:br>
              <a:rPr b="0" lang="es" sz="1100">
                <a:latin typeface="Arial"/>
                <a:ea typeface="Arial"/>
                <a:cs typeface="Arial"/>
                <a:sym typeface="Arial"/>
              </a:rPr>
            </a:b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s" sz="1100">
                <a:latin typeface="Arial"/>
                <a:ea typeface="Arial"/>
                <a:cs typeface="Arial"/>
                <a:sym typeface="Arial"/>
              </a:rPr>
              <a:t>Se usan mucho en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POO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(Java, C#, Python, etc.).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 title="Barbara_Liskov_MIT_computer_scientist_20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004" y="3522650"/>
            <a:ext cx="1083046" cy="15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535775" y="712150"/>
            <a:ext cx="7028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¿Qué son los principios SOLID?</a:t>
            </a:r>
            <a:endParaRPr sz="2400"/>
          </a:p>
        </p:txBody>
      </p:sp>
      <p:sp>
        <p:nvSpPr>
          <p:cNvPr id="87" name="Google Shape;87;p15"/>
          <p:cNvSpPr txBox="1"/>
          <p:nvPr>
            <p:ph idx="4294967295" type="title"/>
          </p:nvPr>
        </p:nvSpPr>
        <p:spPr>
          <a:xfrm>
            <a:off x="5820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s" sz="1100">
                <a:latin typeface="Arial"/>
                <a:ea typeface="Arial"/>
                <a:cs typeface="Arial"/>
                <a:sym typeface="Arial"/>
              </a:rPr>
              <a:t>Solid es el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acrónimo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acunó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Michael Feathers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basándose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en los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principios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de  la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programación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orientado a objetos  que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Robert C.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Martín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había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recopilado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en los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años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2000 en su paper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“Design Principles and Design Patterns”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lang="es" sz="1100">
                <a:latin typeface="Arial"/>
                <a:ea typeface="Arial"/>
                <a:cs typeface="Arial"/>
                <a:sym typeface="Arial"/>
              </a:rPr>
            </a:br>
            <a:r>
              <a:rPr b="0" lang="es" sz="1100">
                <a:latin typeface="Arial"/>
                <a:ea typeface="Arial"/>
                <a:cs typeface="Arial"/>
                <a:sym typeface="Arial"/>
              </a:rPr>
              <a:t>Ocho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años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tarde el 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tío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Bob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Robert C.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Martin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) siguió compendiando consejos y buenas prácticas de desarrollo y se convirtió en el Padre del codigo limpio con su célebre Libro “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Clean  Code</a:t>
            </a:r>
            <a:r>
              <a:rPr b="0" lang="es" sz="1100">
                <a:latin typeface="Arial"/>
                <a:ea typeface="Arial"/>
                <a:cs typeface="Arial"/>
                <a:sym typeface="Arial"/>
              </a:rPr>
              <a:t>”.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5" title="Uncle_Bob_2.jpg"/>
          <p:cNvPicPr preferRelativeResize="0"/>
          <p:nvPr/>
        </p:nvPicPr>
        <p:blipFill rotWithShape="1">
          <a:blip r:embed="rId4">
            <a:alphaModFix/>
          </a:blip>
          <a:srcRect b="0" l="11680" r="11673" t="0"/>
          <a:stretch/>
        </p:blipFill>
        <p:spPr>
          <a:xfrm>
            <a:off x="5690151" y="1743263"/>
            <a:ext cx="1162150" cy="15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 title="clean-code-buy-online-onlinebooksoutlet-296046258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7125" y="3004225"/>
            <a:ext cx="804900" cy="8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636600" y="4143725"/>
            <a:ext cx="621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" sz="1100">
                <a:solidFill>
                  <a:schemeClr val="dk2"/>
                </a:solidFill>
              </a:rPr>
              <a:t>Barbara Liskov</a:t>
            </a:r>
            <a:r>
              <a:rPr lang="es" sz="1100">
                <a:solidFill>
                  <a:schemeClr val="dk2"/>
                </a:solidFill>
              </a:rPr>
              <a:t> - </a:t>
            </a:r>
            <a:r>
              <a:rPr lang="es" sz="1100">
                <a:solidFill>
                  <a:schemeClr val="dk2"/>
                </a:solidFill>
              </a:rPr>
              <a:t>Aportó</a:t>
            </a:r>
            <a:r>
              <a:rPr lang="es" sz="1100">
                <a:solidFill>
                  <a:schemeClr val="dk2"/>
                </a:solidFill>
              </a:rPr>
              <a:t> en el </a:t>
            </a:r>
            <a:r>
              <a:rPr b="1" lang="es" sz="1100">
                <a:solidFill>
                  <a:schemeClr val="dk2"/>
                </a:solidFill>
              </a:rPr>
              <a:t>principio de </a:t>
            </a:r>
            <a:r>
              <a:rPr b="1" lang="es" sz="1100">
                <a:solidFill>
                  <a:schemeClr val="dk2"/>
                </a:solidFill>
              </a:rPr>
              <a:t>sustitución</a:t>
            </a:r>
            <a:r>
              <a:rPr b="1" lang="es" sz="1100">
                <a:solidFill>
                  <a:schemeClr val="dk2"/>
                </a:solidFill>
              </a:rPr>
              <a:t> de Liskov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96" name="Google Shape;96;p16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2650050" y="547400"/>
            <a:ext cx="44664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S-Single </a:t>
            </a: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Responsibility</a:t>
            </a:r>
            <a:endParaRPr b="1" sz="2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6"/>
          <p:cNvSpPr txBox="1"/>
          <p:nvPr>
            <p:ph idx="4294967295" type="body"/>
          </p:nvPr>
        </p:nvSpPr>
        <p:spPr>
          <a:xfrm>
            <a:off x="2650050" y="1501425"/>
            <a:ext cx="3843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Idea clave :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Una Clase debe tener una sola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razón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 para cambiar.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Mal ejemplo: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Una Clase que 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guarda datos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imprime reportes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guarda en la base de datos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Buen Ejemplo: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Clase Usuario -&gt; solo datos de usuario 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Clase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UsuarioRepository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-&gt; guarda en la DB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Clase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UsuarioReporte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-&gt; genera reportes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“Cada Clase hace una sola cosa”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104" name="Google Shape;104;p17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881785">
            <a:off x="5291825" y="2508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2650050" y="547400"/>
            <a:ext cx="39084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O-Open /Closed Principle </a:t>
            </a:r>
            <a:endParaRPr b="1" sz="2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7"/>
          <p:cNvSpPr txBox="1"/>
          <p:nvPr>
            <p:ph idx="4294967295" type="body"/>
          </p:nvPr>
        </p:nvSpPr>
        <p:spPr>
          <a:xfrm>
            <a:off x="2650050" y="1501425"/>
            <a:ext cx="3843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Idea clave :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El código debe estar: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Abierto para extender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cerrado para modificar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Mal ejemplo: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Modificas una clase cada vez  que agregas un nuevo tipo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Buen Ejemplo: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Usar interfaces o herencia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Ejemplo simple: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-Figura (Interfaz)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-Circulo , Rectangulo(clases), si se agrega triángulo , no tocas el codigo viejo.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112" name="Google Shape;112;p18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881785">
            <a:off x="5291825" y="2508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2650050" y="547400"/>
            <a:ext cx="39084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-Liskov </a:t>
            </a: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Substitution</a:t>
            </a: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Principle </a:t>
            </a:r>
            <a:endParaRPr b="1" sz="2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18"/>
          <p:cNvSpPr txBox="1"/>
          <p:nvPr>
            <p:ph idx="4294967295" type="body"/>
          </p:nvPr>
        </p:nvSpPr>
        <p:spPr>
          <a:xfrm>
            <a:off x="2650050" y="1429125"/>
            <a:ext cx="3843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Idea clave :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Una CLase hija debe poder reemplazar  a su clase padre sin romper el programa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Mal ejemplo: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-Clase Ave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-Subclase Pinguino que no puede volar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(si el metodo volar() falla ,  rompe  todo)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Buen Ejemplo: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Separar bien responsabilidades: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-Ave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 AveVoladora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“Las Clases hijas  deben comportarse como sus padres”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120" name="Google Shape;120;p1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881785">
            <a:off x="5291825" y="2508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617800" y="568050"/>
            <a:ext cx="39084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Interface Segregation </a:t>
            </a:r>
            <a:r>
              <a:rPr b="1" lang="es" sz="26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Principle </a:t>
            </a:r>
            <a:endParaRPr b="1" sz="26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9"/>
          <p:cNvSpPr txBox="1"/>
          <p:nvPr>
            <p:ph idx="4294967295" type="body"/>
          </p:nvPr>
        </p:nvSpPr>
        <p:spPr>
          <a:xfrm>
            <a:off x="2650050" y="1501425"/>
            <a:ext cx="3843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Idea clave :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No obligar a una clase  a implementar metodos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que no usa.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Mal ejemplo: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Una interfaz gigante con muchos metodos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 Buen Ejemplo: Varias interfaces pequenas  y especificas.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Ejemplo: 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-Imprimible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-Escaneable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-fax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ozo de cinta adhesiva que pega una nota a la diapositiva" id="128" name="Google Shape;128;p20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5188525" y="43611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733900" y="402801"/>
            <a:ext cx="3843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b="1" lang="es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. Dependency Inversion Principle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Google Shape;130;p20"/>
          <p:cNvSpPr txBox="1"/>
          <p:nvPr>
            <p:ph idx="4294967295" type="body"/>
          </p:nvPr>
        </p:nvSpPr>
        <p:spPr>
          <a:xfrm>
            <a:off x="2855550" y="1377475"/>
            <a:ext cx="36003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Idea Clave: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Depender  de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abstracciones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, no de  clases concretas.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Mal Ejemplo:  CLase App depende directamente  de MySQL.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Buen ejemplo:  - App depende  de una interfaz  BaseDeDatos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MySQl o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PostgreSQL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la 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implementan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“El sistema  no se ata a una sola </a:t>
            </a: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tecnología</a:t>
            </a:r>
            <a:r>
              <a:rPr b="1" lang="es" sz="1200">
                <a:latin typeface="Raleway"/>
                <a:ea typeface="Raleway"/>
                <a:cs typeface="Raleway"/>
                <a:sym typeface="Raleway"/>
              </a:rPr>
              <a:t>”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5"/>
                </a:solidFill>
              </a:rPr>
              <a:t>¡Muchas Gracias ! </a:t>
            </a:r>
            <a:r>
              <a:rPr lang="es"/>
              <a:t>por su atencion.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grpSp>
        <p:nvGrpSpPr>
          <p:cNvPr id="136" name="Google Shape;136;p21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37" name="Google Shape;13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rozo de cinta adhesiva que pega una nota a la diapositiva" id="138" name="Google Shape;138;p21"/>
            <p:cNvPicPr preferRelativeResize="0"/>
            <p:nvPr/>
          </p:nvPicPr>
          <p:blipFill rotWithShape="1">
            <a:blip r:embed="rId4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1"/>
            <p:cNvSpPr txBox="1"/>
            <p:nvPr/>
          </p:nvSpPr>
          <p:spPr>
            <a:xfrm>
              <a:off x="6924130" y="651575"/>
              <a:ext cx="18825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Consejo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Recuerda: si algo suena a sentido común, la gente lo ignora. </a:t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Destaca lo inesperado de tu tema.</a:t>
              </a:r>
              <a:endParaRPr b="1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